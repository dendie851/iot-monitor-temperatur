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2" r:id="rId17"/>
    <p:sldId id="273" r:id="rId18"/>
    <p:sldId id="274" r:id="rId19"/>
    <p:sldId id="275" r:id="rId20"/>
  </p:sldIdLst>
  <p:sldSz cx="12192000" cy="6858000"/>
  <p:notesSz cx="6858000" cy="9144000"/>
  <p:embeddedFontLst>
    <p:embeddedFont>
      <p:font typeface="Plus Jakarta Sans"/>
      <p:bold r:id="rId21"/>
    </p:embeddedFont>
  </p:embeddedFontLst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59" d="100"/>
          <a:sy n="59" d="100"/>
        </p:scale>
        <p:origin x="940" y="5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font" Target="fonts/font1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10/20/2026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7" Type="http://schemas.openxmlformats.org/officeDocument/2006/relationships/image" Target="../media/image10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Relationship Id="rId5" Type="http://schemas.openxmlformats.org/officeDocument/2006/relationships/hyperlink" Target="https://www.youtube.com/shorts/UfnUE4Geqq0" TargetMode="External"/><Relationship Id="rId4" Type="http://schemas.openxmlformats.org/officeDocument/2006/relationships/image" Target="../media/image2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4713833"/>
            <a:ext cx="571500" cy="381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609600" y="2106066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1" i="0" u="none">
                <a:solidFill>
                  <a:srgbClr val="38BDF8"/>
                </a:solidFill>
                <a:latin typeface="Plus Jakarta Sans"/>
              </a:rPr>
              <a:t>KULIAH TAMU FAKULTAS BISNIS &amp; MANAJEMEN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09600" y="2458491"/>
            <a:ext cx="9101137" cy="118854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4680"/>
              </a:lnSpc>
            </a:pPr>
            <a:r>
              <a:rPr sz="3900" b="1" i="0" u="none">
                <a:solidFill>
                  <a:srgbClr val="FFFFFF"/>
                </a:solidFill>
                <a:latin typeface="Plus Jakarta Sans"/>
              </a:rPr>
              <a:t>Transformasi Bisnis Melalui IoT &amp; Real-Time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3837533"/>
            <a:ext cx="6762750" cy="5715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2250"/>
              </a:lnSpc>
            </a:pPr>
            <a:r>
              <a:rPr sz="1500" b="0" i="0" u="none">
                <a:solidFill>
                  <a:srgbClr val="94A3B8"/>
                </a:solidFill>
                <a:latin typeface="Plus Jakarta Sans"/>
              </a:rPr>
              <a:t>Menerjemahkan teknologi sensor fisik dan data otomatis menjadi keunggulan kompetitif dan nilai komersial.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102173"/>
            <a:ext cx="3505200" cy="1638300"/>
          </a:xfrm>
          <a:prstGeom prst="roundRect">
            <a:avLst>
              <a:gd name="adj" fmla="val 930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102173"/>
            <a:ext cx="3505200" cy="1638300"/>
          </a:xfrm>
          <a:prstGeom prst="roundRect">
            <a:avLst>
              <a:gd name="adj" fmla="val 930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3102173"/>
            <a:ext cx="3505200" cy="1638300"/>
          </a:xfrm>
          <a:prstGeom prst="roundRect">
            <a:avLst>
              <a:gd name="adj" fmla="val 9302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2402645" cy="36016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Agenda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Sesi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Kuliah</a:t>
            </a:r>
            <a:endParaRPr sz="24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Struktur pembahasan dari strategi bisnis hingga implementasi teknis dasar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3416498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BAGIAN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925" y="3664148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Konsep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Bisnis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IoT </a:t>
            </a:r>
            <a:r>
              <a:rPr lang="en-US" sz="1350" b="1" i="0" u="none" dirty="0">
                <a:solidFill>
                  <a:srgbClr val="0F172A"/>
                </a:solidFill>
                <a:latin typeface="Plus Jakarta Sans"/>
              </a:rPr>
              <a:t>(Slide 1–10)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923925" y="3997523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Manfaat komersial, lanskap industri, ekonomi data, dan studi kasus manajerial.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7725" y="3416498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BAGIAN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7725" y="3664148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Teknis &amp;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Komponen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(Slide 11–17)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7725" y="3997523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Arsitektur perangkat, sensor suhu, jaringan cloud, dan cara kerja sistem.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1525" y="3416498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BAGIAN 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1525" y="3664148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Demo &amp; Diskusi (Slide 18–20)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1525" y="3997523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Simulasi live monitoring suhu, tanya jawab, dan penutup.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568773"/>
            <a:ext cx="5334000" cy="1200150"/>
          </a:xfrm>
          <a:prstGeom prst="roundRect">
            <a:avLst>
              <a:gd name="adj" fmla="val 12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959423"/>
            <a:ext cx="5334000" cy="1200150"/>
          </a:xfrm>
          <a:prstGeom prst="roundRect">
            <a:avLst>
              <a:gd name="adj" fmla="val 1269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863923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Perubahan Lanskap Bisnis Global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Mengapa perusahaan konvensional harus beralih ke digitalisasi fisik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2806898"/>
            <a:ext cx="63757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Kompetisi Berbasis Kecepatan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3102173"/>
            <a:ext cx="4953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Informasi operasional yang terlambat dilaporkan menyebabkan keputusan bisnis yang salah.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197548"/>
            <a:ext cx="63757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Ekspektasi Konsumen Tinggi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4492823"/>
            <a:ext cx="49530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Kualitas produk yang terjaga ketat menuntut kontrol mutu otomatis sepanjang rantai pasok.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B5EC754-2240-2A9A-9431-12553627D13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38850" y="1658713"/>
            <a:ext cx="5418895" cy="420571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11673"/>
            <a:ext cx="5686425" cy="1905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825" y="1959173"/>
            <a:ext cx="4981575" cy="381000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Definisi Sederhana IoT untuk Bisnis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Menghubungkan benda fisik ke internet agar dapat "berbicara" kepada manajemen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717835" y="3264098"/>
            <a:ext cx="1469954" cy="62414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4800"/>
              </a:lnSpc>
            </a:pPr>
            <a:r>
              <a:rPr sz="4800" b="1" i="0" u="none" dirty="0">
                <a:solidFill>
                  <a:srgbClr val="0284C7"/>
                </a:solidFill>
                <a:latin typeface="Plus Jakarta Sans"/>
              </a:rPr>
              <a:t>75</a:t>
            </a:r>
            <a:r>
              <a:rPr lang="en-US" sz="4800" b="1" i="0" u="none" dirty="0">
                <a:solidFill>
                  <a:srgbClr val="0284C7"/>
                </a:solidFill>
                <a:latin typeface="Plus Jakarta Sans"/>
              </a:rPr>
              <a:t>M</a:t>
            </a:r>
            <a:r>
              <a:rPr sz="4800" b="1" i="0" u="none" dirty="0">
                <a:solidFill>
                  <a:srgbClr val="0284C7"/>
                </a:solidFill>
                <a:latin typeface="Plus Jakarta Sans"/>
              </a:rPr>
              <a:t>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003795" y="3987998"/>
            <a:ext cx="2898037" cy="207749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lang="en-US" sz="1350" b="1" i="0" u="none" dirty="0" err="1">
                <a:solidFill>
                  <a:srgbClr val="0F172A"/>
                </a:solidFill>
                <a:latin typeface="Plus Jakarta Sans"/>
              </a:rPr>
              <a:t>Proyek</a:t>
            </a:r>
            <a:r>
              <a:rPr lang="en-US" sz="1350" b="1" dirty="0" err="1">
                <a:solidFill>
                  <a:srgbClr val="0F172A"/>
                </a:solidFill>
                <a:latin typeface="Plus Jakarta Sans"/>
              </a:rPr>
              <a:t>i</a:t>
            </a:r>
            <a:r>
              <a:rPr lang="en-US" sz="1350" b="1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Perangkat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Aktif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di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Seluruh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Dunia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752026" y="4283273"/>
            <a:ext cx="3401572" cy="3577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/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Merekam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suhu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,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getaran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,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lokasi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, dan status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secara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64748B"/>
                </a:solidFill>
                <a:latin typeface="Plus Jakarta Sans"/>
              </a:rPr>
              <a:t>mandiri</a:t>
            </a:r>
            <a:r>
              <a:rPr sz="1125" b="0" i="0" u="none" dirty="0">
                <a:solidFill>
                  <a:srgbClr val="64748B"/>
                </a:solidFill>
                <a:latin typeface="Plus Jakarta Sans"/>
              </a:rPr>
              <a:t>.</a:t>
            </a:r>
            <a:endParaRPr lang="en-US" sz="1125" b="0" i="0" u="none" dirty="0">
              <a:solidFill>
                <a:srgbClr val="64748B"/>
              </a:solidFill>
              <a:latin typeface="Plus Jakarta Sans"/>
            </a:endParaRPr>
          </a:p>
          <a:p>
            <a:pPr algn="ctr"/>
            <a:r>
              <a:rPr lang="en-US" sz="1200" b="1" dirty="0" err="1"/>
              <a:t>Berdasarkan</a:t>
            </a:r>
            <a:r>
              <a:rPr lang="en-US" sz="1200" b="1" dirty="0"/>
              <a:t> IHS Markit</a:t>
            </a:r>
            <a:r>
              <a:rPr lang="en-US" sz="1200" dirty="0"/>
              <a:t> </a:t>
            </a:r>
            <a:endParaRPr sz="1125" b="0" i="0" u="none" dirty="0">
              <a:solidFill>
                <a:srgbClr val="64748B"/>
              </a:solidFill>
              <a:latin typeface="Plus Jakarta Sans"/>
            </a:endParaRP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D0EF74B4-0CB0-A8A9-1C5B-5ADBB3DB3AB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10856" y="1419247"/>
            <a:ext cx="5768691" cy="4501327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68823"/>
            <a:ext cx="3505200" cy="1905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2968823"/>
            <a:ext cx="3505200" cy="1905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2968823"/>
            <a:ext cx="3505200" cy="1905000"/>
          </a:xfrm>
          <a:prstGeom prst="roundRect">
            <a:avLst>
              <a:gd name="adj" fmla="val 800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23925" y="3283148"/>
            <a:ext cx="381000" cy="3810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57725" y="3283148"/>
            <a:ext cx="381000" cy="3810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91525" y="3283148"/>
            <a:ext cx="381000" cy="381000"/>
          </a:xfrm>
          <a:prstGeom prst="rect">
            <a:avLst/>
          </a:prstGeom>
        </p:spPr>
      </p:pic>
      <p:pic>
        <p:nvPicPr>
          <p:cNvPr id="8" name="Picture 7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8700" y="3387923"/>
            <a:ext cx="171450" cy="171450"/>
          </a:xfrm>
          <a:prstGeom prst="rect">
            <a:avLst/>
          </a:prstGeom>
        </p:spPr>
      </p:pic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38687" y="3387923"/>
            <a:ext cx="219075" cy="171450"/>
          </a:xfrm>
          <a:prstGeom prst="rect">
            <a:avLst/>
          </a:prstGeom>
        </p:spPr>
      </p:pic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496300" y="3387923"/>
            <a:ext cx="171450" cy="17145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Tiga Pilar Utama Ekosistem IoT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Kerangka dasar yang wajib dipahami oleh pengambil keputusan bisnis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23925" y="3816548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1. Pengumpulan (Sensor)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23925" y="4130873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Menangkap kondisi fisik secara otomatis tanpa campur tangan manusia.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7725" y="3816548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2. Transmisi (Jaringan)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7725" y="4130873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Mengirimkan data dari lokasi lapangan menuju pusat penyimpanan cloud.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91525" y="3816548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3. Aksi (Dashboard)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91525" y="4130873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Menampilkan analisis visual dan memicu alarm peringatan dini.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431702"/>
            <a:ext cx="5334000" cy="853380"/>
          </a:xfrm>
          <a:prstGeom prst="roundRect">
            <a:avLst>
              <a:gd name="adj" fmla="val 1339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437483"/>
            <a:ext cx="5334000" cy="853380"/>
          </a:xfrm>
          <a:prstGeom prst="roundRect">
            <a:avLst>
              <a:gd name="adj" fmla="val 1339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609600" y="4443263"/>
            <a:ext cx="5334000" cy="853380"/>
          </a:xfrm>
          <a:prstGeom prst="roundRect">
            <a:avLst>
              <a:gd name="adj" fmla="val 13393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863923"/>
            <a:ext cx="5334000" cy="40005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Manfaat Bisnis: Efisiensi &amp; Cost Reduction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Menekan pengeluaran operasional melalui otomatisasi pencatatan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9625" y="2631727"/>
            <a:ext cx="6475809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Eliminasi Catatan Manual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09625" y="2898427"/>
            <a:ext cx="6167437" cy="1866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475569"/>
                </a:solidFill>
                <a:latin typeface="Plus Jakarta Sans"/>
              </a:rPr>
              <a:t>Menghapus lembar log kertas yang lambat dan rentan manipulasi.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9625" y="3637508"/>
            <a:ext cx="6475809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Penghematan Energi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9625" y="3904208"/>
            <a:ext cx="6167437" cy="1866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475569"/>
                </a:solidFill>
                <a:latin typeface="Plus Jakarta Sans"/>
              </a:rPr>
              <a:t>Mengontrol penggunaan daya mesin dan pendingin ruangan secara presisi.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625" y="4643288"/>
            <a:ext cx="6475809" cy="2095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75" b="1" i="0" u="none">
                <a:solidFill>
                  <a:srgbClr val="0F172A"/>
                </a:solidFill>
                <a:latin typeface="Plus Jakarta Sans"/>
              </a:rPr>
              <a:t>Optimalisasi Tenaga Kerja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9625" y="4909988"/>
            <a:ext cx="6167437" cy="18663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470"/>
              </a:lnSpc>
            </a:pPr>
            <a:r>
              <a:rPr sz="1050" b="0" i="0" u="none">
                <a:solidFill>
                  <a:srgbClr val="475569"/>
                </a:solidFill>
                <a:latin typeface="Plus Jakarta Sans"/>
              </a:rPr>
              <a:t>Staf dialihkan ke tugas strategis bernilai tambah tinggi bagi perusahaan.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E24BB4C0-BFDD-75FB-D7C8-DC3C46E469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48400" y="1260231"/>
            <a:ext cx="5236029" cy="4754554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48400" y="2492573"/>
            <a:ext cx="5334000" cy="1276350"/>
          </a:xfrm>
          <a:prstGeom prst="roundRect">
            <a:avLst>
              <a:gd name="adj" fmla="val 119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3959423"/>
            <a:ext cx="5334000" cy="1276350"/>
          </a:xfrm>
          <a:prstGeom prst="roundRect">
            <a:avLst>
              <a:gd name="adj" fmla="val 11940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63923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Manfaat Bisnis: Mitigasi Risiko &amp; Mutu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Melindungi aset korporat dari kerugian akibat kelalaian operasional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5" y="2768798"/>
            <a:ext cx="56673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Peringatan Dini Kerusakan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5" y="3064073"/>
            <a:ext cx="4876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Notifikasi instan saat suhu mesin atau ruang pendingin melewati batas aman, mencegah produk rusak total.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4235648"/>
            <a:ext cx="56673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Kepatuhan Standar Industri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5" y="4530923"/>
            <a:ext cx="4876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Menyediakan riwayat audit digital yang transparan untuk memenuhi regulasi keselamatan.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B680130-7C27-3872-C735-F92A2426610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465" y="1870471"/>
            <a:ext cx="5255135" cy="4056594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004542"/>
            <a:ext cx="3505200" cy="1833562"/>
          </a:xfrm>
          <a:prstGeom prst="roundRect">
            <a:avLst>
              <a:gd name="adj" fmla="val 83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004542"/>
            <a:ext cx="3505200" cy="1833562"/>
          </a:xfrm>
          <a:prstGeom prst="roundRect">
            <a:avLst>
              <a:gd name="adj" fmla="val 83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3004542"/>
            <a:ext cx="3505200" cy="1833562"/>
          </a:xfrm>
          <a:prstGeom prst="roundRect">
            <a:avLst>
              <a:gd name="adj" fmla="val 83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Perkembangan &amp; Tren Adopsi IoT Saat Ini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Bagaimana teknologi ini bertransformasi dari proyek uji coba menjadi standar industri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3318867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TREN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925" y="3566517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Demokratisasi Hardware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3880842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Komponen sensor dan mikrokontroler kini sangat terjangkau bagi bisnis skala menengah.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7725" y="3318867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TREN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7725" y="3566517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Cloud Berbasis Layanan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7725" y="3880842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Perusahaan tidak perlu membangun server sendiri; cukup menyewa infrastruktur awan.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1525" y="3318867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TREN 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1525" y="3566517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Multi-Industry Standard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1525" y="3880842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Adopsi meluas dari logistik rantai dingin hingga pertanian modern dan perkantoran.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extBox 4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Implementasi Sektoral di Dunia Usaha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Penerapan nyata sensor pemantau di berbagai pilar industri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415068E-ACB8-D93B-4A62-DDEC906F30C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7537" y="1659889"/>
            <a:ext cx="11127947" cy="3848281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148905"/>
            <a:ext cx="5343525" cy="1544835"/>
          </a:xfrm>
          <a:prstGeom prst="roundRect">
            <a:avLst>
              <a:gd name="adj" fmla="val 9865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57925" y="2967037"/>
            <a:ext cx="5324475" cy="1908571"/>
          </a:xfrm>
          <a:prstGeom prst="roundRect">
            <a:avLst>
              <a:gd name="adj" fmla="val 7985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Rangkuman Bagian Bisnis &amp; Strategi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Poin penting sebelum memasuki pembahasan teknis pelaksanaan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62025" y="3501330"/>
            <a:ext cx="6088260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Transformasi Nilai Korporat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62025" y="3853755"/>
            <a:ext cx="473392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IoT mengubah cara manajer memandang data fisik — dari reaktif menjadi proaktif, serta meningkatkan efisiensi operasional.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00825" y="3309937"/>
            <a:ext cx="5591175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38BDF8"/>
                </a:solidFill>
                <a:latin typeface="Plus Jakarta Sans"/>
              </a:rPr>
              <a:t>TRANSISI SESI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600825" y="3595687"/>
            <a:ext cx="5591175" cy="29706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340"/>
              </a:lnSpc>
            </a:pPr>
            <a:r>
              <a:rPr sz="1800" b="1" i="0" u="none">
                <a:solidFill>
                  <a:srgbClr val="FFFFFF"/>
                </a:solidFill>
                <a:latin typeface="Plus Jakarta Sans"/>
              </a:rPr>
              <a:t>Menuju Dapur Teknologi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600825" y="4045148"/>
            <a:ext cx="4733925" cy="487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920"/>
              </a:lnSpc>
            </a:pPr>
            <a:r>
              <a:rPr sz="1200" b="0" i="0" u="none">
                <a:solidFill>
                  <a:srgbClr val="94A3B8"/>
                </a:solidFill>
                <a:latin typeface="Plus Jakarta Sans"/>
              </a:rPr>
              <a:t>Bagaimana konsep bisnis ini diwujudkan secara nyata melalui perangkat keras dan sistem perangkat lunak?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3111698"/>
            <a:ext cx="3505200" cy="1619250"/>
          </a:xfrm>
          <a:prstGeom prst="roundRect">
            <a:avLst>
              <a:gd name="adj" fmla="val 94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4343400" y="3111698"/>
            <a:ext cx="3505200" cy="1619250"/>
          </a:xfrm>
          <a:prstGeom prst="roundRect">
            <a:avLst>
              <a:gd name="adj" fmla="val 94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077200" y="3004542"/>
            <a:ext cx="3505200" cy="1833562"/>
          </a:xfrm>
          <a:prstGeom prst="roundRect">
            <a:avLst>
              <a:gd name="adj" fmla="val 83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Arsitektur Umum Sistem IoT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Alur perjalanan data dari dunia fisik hingga tampil di layar monitor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23925" y="3426023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LANGKAH 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23925" y="3673673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Sensor Membaca Data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23925" y="3987998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Komponen fisik mendeteksi suhu atau kelembapan ruangan secara berkala.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57725" y="3426023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LANGKAH 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57725" y="3673673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Mikrokontroler Mengirim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57725" y="3987998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Perangkat memaketkan angka dan mengirimkannya via jaringan Wi-Fi lokal.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91525" y="3318867"/>
            <a:ext cx="3595687" cy="17145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050" b="1" i="0" u="none">
                <a:solidFill>
                  <a:srgbClr val="0284C7"/>
                </a:solidFill>
                <a:latin typeface="Plus Jakarta Sans"/>
              </a:rPr>
              <a:t>LANGKAH 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1525" y="3566517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Cloud Menyimpan &amp; Menampilkan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91525" y="3880842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Server awan memproses data dan menampilkannya dalam bentuk grafik visual.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783085"/>
            <a:ext cx="5334000" cy="985837"/>
          </a:xfrm>
          <a:prstGeom prst="roundRect">
            <a:avLst>
              <a:gd name="adj" fmla="val 1545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09600" y="3959423"/>
            <a:ext cx="5334000" cy="985837"/>
          </a:xfrm>
          <a:prstGeom prst="roundRect">
            <a:avLst>
              <a:gd name="adj" fmla="val 15458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48400" y="1863923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8588633" cy="360163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Komponen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Fisik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: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Otak</a:t>
            </a:r>
            <a:r>
              <a:rPr sz="2400" b="1" i="0" u="none" dirty="0">
                <a:solidFill>
                  <a:srgbClr val="0F172A"/>
                </a:solidFill>
                <a:latin typeface="Plus Jakarta Sans"/>
              </a:rPr>
              <a:t> &amp; Indera </a:t>
            </a:r>
            <a:r>
              <a:rPr sz="2400" b="1" i="0" u="none" dirty="0" err="1">
                <a:solidFill>
                  <a:srgbClr val="0F172A"/>
                </a:solidFill>
                <a:latin typeface="Plus Jakarta Sans"/>
              </a:rPr>
              <a:t>Perangkat</a:t>
            </a:r>
            <a:r>
              <a:rPr lang="en-US" sz="2400" b="1" i="0" u="none" dirty="0">
                <a:solidFill>
                  <a:srgbClr val="0F172A"/>
                </a:solidFill>
                <a:latin typeface="Plus Jakarta Sans"/>
              </a:rPr>
              <a:t> (Sample Demo </a:t>
            </a:r>
            <a:r>
              <a:rPr lang="en-US" sz="2400" b="1" i="0" u="none" dirty="0" err="1">
                <a:solidFill>
                  <a:srgbClr val="0F172A"/>
                </a:solidFill>
                <a:latin typeface="Plus Jakarta Sans"/>
              </a:rPr>
              <a:t>Sekarang</a:t>
            </a:r>
            <a:r>
              <a:rPr lang="en-US" sz="2400" b="1" i="0" u="none" dirty="0">
                <a:solidFill>
                  <a:srgbClr val="0F172A"/>
                </a:solidFill>
                <a:latin typeface="Plus Jakarta Sans"/>
              </a:rPr>
              <a:t>)</a:t>
            </a:r>
            <a:endParaRPr sz="240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Mengenal perangkat keras dasar yang terpasang di lapangan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7725" y="3021210"/>
            <a:ext cx="63757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ESP32 (Mikrokontroler)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7725" y="3316485"/>
            <a:ext cx="6072187" cy="214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Komputer mini berukuran chip dengan Wi-Fi bawaan.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7725" y="4197548"/>
            <a:ext cx="6375796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Sensor Temperatur (DHT / DS18B20)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7725" y="4492823"/>
            <a:ext cx="6072187" cy="214312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Komponen elektronik presisi yang mengukur suhu secara kontinu.</a:t>
            </a: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97AD0D04-A839-4FF3-B42C-968F3FF112A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97880" y="1566967"/>
            <a:ext cx="5346395" cy="419157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8102204" y="1277912"/>
            <a:ext cx="3505200" cy="137160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8102204" y="2868811"/>
            <a:ext cx="3505200" cy="1585912"/>
          </a:xfrm>
          <a:prstGeom prst="roundRect">
            <a:avLst>
              <a:gd name="adj" fmla="val 96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8162925" y="4714279"/>
            <a:ext cx="3505200" cy="1585912"/>
          </a:xfrm>
          <a:prstGeom prst="roundRect">
            <a:avLst>
              <a:gd name="adj" fmla="val 96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Jaringan &amp; Protokol Komunikasi 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Bagaimana</a:t>
            </a:r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perangkat</a:t>
            </a:r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mengirimkan</a:t>
            </a:r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 data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secara</a:t>
            </a:r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aman</a:t>
            </a:r>
            <a:r>
              <a:rPr sz="1200" b="0" i="0" u="none" dirty="0">
                <a:solidFill>
                  <a:srgbClr val="64748B"/>
                </a:solidFill>
                <a:latin typeface="Plus Jakarta Sans"/>
              </a:rPr>
              <a:t> dan </a:t>
            </a:r>
            <a:r>
              <a:rPr sz="1200" b="0" i="0" u="none" dirty="0" err="1">
                <a:solidFill>
                  <a:srgbClr val="64748B"/>
                </a:solidFill>
                <a:latin typeface="Plus Jakarta Sans"/>
              </a:rPr>
              <a:t>efisien</a:t>
            </a:r>
            <a:endParaRPr sz="1200" b="0" i="0" u="none" dirty="0">
              <a:solidFill>
                <a:srgbClr val="64748B"/>
              </a:solidFill>
              <a:latin typeface="Plus Jakarta Sans"/>
            </a:endParaRPr>
          </a:p>
        </p:txBody>
      </p:sp>
      <p:sp>
        <p:nvSpPr>
          <p:cNvPr id="7" name="TextBox 6"/>
          <p:cNvSpPr txBox="1"/>
          <p:nvPr/>
        </p:nvSpPr>
        <p:spPr>
          <a:xfrm>
            <a:off x="8416529" y="1427931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Konektivitas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Wi-Fi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416529" y="1906562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Jalur internet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standar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yang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menjembatani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perangkat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lapangan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dengan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server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pusat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6529" y="3183136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Protokol MQTT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6529" y="3497461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Bahasa komunikasi ringan yang dirancang khusus untuk perangkat IoT agar hemat daya.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33196" y="5028604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Keamanan</a:t>
            </a:r>
            <a:r>
              <a:rPr sz="1350" b="1" i="0" u="none" dirty="0">
                <a:solidFill>
                  <a:srgbClr val="0F172A"/>
                </a:solidFill>
                <a:latin typeface="Plus Jakarta Sans"/>
              </a:rPr>
              <a:t> </a:t>
            </a:r>
            <a:r>
              <a:rPr sz="1350" b="1" i="0" u="none" dirty="0" err="1">
                <a:solidFill>
                  <a:srgbClr val="0F172A"/>
                </a:solidFill>
                <a:latin typeface="Plus Jakarta Sans"/>
              </a:rPr>
              <a:t>Transmisi</a:t>
            </a:r>
            <a:endParaRPr sz="1350" b="1" i="0" u="none" dirty="0">
              <a:solidFill>
                <a:srgbClr val="0F172A"/>
              </a:solidFill>
              <a:latin typeface="Plus Jakarta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8477250" y="5342929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Enkripsi data untuk mencegah penyadapan atau manipulasi informasi di tengah jalan.</a:t>
            </a:r>
          </a:p>
        </p:txBody>
      </p:sp>
      <p:pic>
        <p:nvPicPr>
          <p:cNvPr id="16" name="Picture 15">
            <a:extLst>
              <a:ext uri="{FF2B5EF4-FFF2-40B4-BE49-F238E27FC236}">
                <a16:creationId xmlns:a16="http://schemas.microsoft.com/office/drawing/2014/main" id="{C89EE36E-0D9E-318A-33A3-49E6DDE36B2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7258" y="2042239"/>
            <a:ext cx="6748786" cy="3106703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248400" y="2425898"/>
            <a:ext cx="5334000" cy="1343025"/>
          </a:xfrm>
          <a:prstGeom prst="roundRect">
            <a:avLst>
              <a:gd name="adj" fmla="val 1134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6248400" y="3959423"/>
            <a:ext cx="5334000" cy="1343025"/>
          </a:xfrm>
          <a:prstGeom prst="roundRect">
            <a:avLst>
              <a:gd name="adj" fmla="val 11347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9600" y="1863923"/>
            <a:ext cx="5334000" cy="40005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Perangkat Lunak: Cloud &amp; Database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Tempat penyimpanan riwayat audit dan pengolahan angka otomatis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24625" y="2702123"/>
            <a:ext cx="56673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Cloud Server &amp; Broker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524625" y="3035498"/>
            <a:ext cx="487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Pusat pengendali virtual yang menerima ribuan kiriman data dari berbagai sensor.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524625" y="4235648"/>
            <a:ext cx="5667375" cy="2381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500" b="1" i="0" u="none">
                <a:solidFill>
                  <a:srgbClr val="0F172A"/>
                </a:solidFill>
                <a:latin typeface="Plus Jakarta Sans"/>
              </a:rPr>
              <a:t>Penyimpanan Riwayat (Database)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24625" y="4569023"/>
            <a:ext cx="4876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00" b="0" i="0" u="none">
                <a:solidFill>
                  <a:srgbClr val="475569"/>
                </a:solidFill>
                <a:latin typeface="Plus Jakarta Sans"/>
              </a:rPr>
              <a:t>Merekam setiap detik perubahan suhu untuk keperluan analisis tren jangka panjang.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DC15F7F-246D-9BA2-0160-4BC4E70F04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90575" y="1863923"/>
            <a:ext cx="4564333" cy="392704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ounded Rectangle 2"/>
          <p:cNvSpPr/>
          <p:nvPr/>
        </p:nvSpPr>
        <p:spPr>
          <a:xfrm>
            <a:off x="7075715" y="1908464"/>
            <a:ext cx="3505200" cy="1585912"/>
          </a:xfrm>
          <a:prstGeom prst="roundRect">
            <a:avLst>
              <a:gd name="adj" fmla="val 9609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7075715" y="3731534"/>
            <a:ext cx="3505200" cy="137160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Visualisasi: Dashboard &amp; Web Interface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Jendela interaktif bagi manajer untuk memantau kondisi operasional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90040" y="2222789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Indikator Status Warna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90040" y="2537114"/>
            <a:ext cx="2971800" cy="64293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Zona aman (hijau) dan zona bahaya (merah) untuk identifikasi masalah secara instan.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90040" y="4045859"/>
            <a:ext cx="3775471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Akses Multi-Platform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90040" y="4360184"/>
            <a:ext cx="29718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Dapat diakses melalui komputer kantor maupun aplikasi mobile di smartphone.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3970C73-8A9A-2763-1A09-5987301E46C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856" y="3235257"/>
            <a:ext cx="5061858" cy="3513187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9BDE0D4A-840E-EC59-0790-8827A88E7CD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9856" y="1486845"/>
            <a:ext cx="2401709" cy="1604697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Tantangan &amp; Solusi Implementasi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Mengantisipasi hambatan umum dalam proyek digitalisasi korporat</a:t>
            </a:r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12DD5F84-0307-9B0F-E872-D2178A3677F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3848" y="1693437"/>
            <a:ext cx="10088610" cy="3988906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609600" y="2921198"/>
            <a:ext cx="5334000" cy="2336602"/>
          </a:xfrm>
          <a:prstGeom prst="roundRect">
            <a:avLst>
              <a:gd name="adj" fmla="val 74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3" name="Rounded Rectangle 2"/>
          <p:cNvSpPr/>
          <p:nvPr/>
        </p:nvSpPr>
        <p:spPr>
          <a:xfrm>
            <a:off x="6248400" y="2921198"/>
            <a:ext cx="5334000" cy="2423688"/>
          </a:xfrm>
          <a:prstGeom prst="roundRect">
            <a:avLst>
              <a:gd name="adj" fmla="val 7476"/>
            </a:avLst>
          </a:prstGeom>
          <a:solidFill>
            <a:srgbClr val="F8FAFC"/>
          </a:solidFill>
          <a:ln w="9525">
            <a:solidFill>
              <a:srgbClr val="E2E8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4" name="Picture 3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2025" y="3273623"/>
            <a:ext cx="457200" cy="457200"/>
          </a:xfrm>
          <a:prstGeom prst="rect">
            <a:avLst/>
          </a:prstGeom>
        </p:spPr>
      </p:pic>
      <p:pic>
        <p:nvPicPr>
          <p:cNvPr id="5" name="Picture 4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0825" y="3273623"/>
            <a:ext cx="457200" cy="457200"/>
          </a:xfrm>
          <a:prstGeom prst="rect">
            <a:avLst/>
          </a:prstGeom>
        </p:spPr>
      </p:pic>
      <p:pic>
        <p:nvPicPr>
          <p:cNvPr id="6" name="Picture 5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1562" y="3406973"/>
            <a:ext cx="238125" cy="190500"/>
          </a:xfrm>
          <a:prstGeom prst="rect">
            <a:avLst/>
          </a:prstGeom>
        </p:spPr>
      </p:pic>
      <p:pic>
        <p:nvPicPr>
          <p:cNvPr id="7" name="Picture 6" descr="imag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43700" y="3406973"/>
            <a:ext cx="171450" cy="19050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609600" y="533400"/>
            <a:ext cx="11582400" cy="36567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>
              <a:lnSpc>
                <a:spcPts val="2879"/>
              </a:lnSpc>
            </a:pPr>
            <a:r>
              <a:rPr sz="2400" b="1" i="0" u="none">
                <a:solidFill>
                  <a:srgbClr val="0F172A"/>
                </a:solidFill>
                <a:latin typeface="Plus Jakarta Sans"/>
              </a:rPr>
              <a:t>Sesi Simulasi &amp; Demo Sistem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09600" y="975270"/>
            <a:ext cx="11582400" cy="20002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200" b="0" i="0" u="none">
                <a:solidFill>
                  <a:srgbClr val="64748B"/>
                </a:solidFill>
                <a:latin typeface="Plus Jakarta Sans"/>
              </a:rPr>
              <a:t>Melihat langsung cara kerja repositori monitor temperatur dalam aksi nyata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2025" y="3883223"/>
            <a:ext cx="6075759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Simulasi Perangkat &amp; Dashboard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2025" y="4178498"/>
            <a:ext cx="4724400" cy="85561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Demonstrasi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pembacaan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data sensor ESP32 yang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disiarkan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langsung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ke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tampilan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</a:t>
            </a:r>
            <a:r>
              <a:rPr sz="1125" b="0" i="0" u="none" dirty="0" err="1">
                <a:solidFill>
                  <a:srgbClr val="475569"/>
                </a:solidFill>
                <a:latin typeface="Plus Jakarta Sans"/>
              </a:rPr>
              <a:t>antarmuka</a:t>
            </a:r>
            <a:r>
              <a:rPr sz="1125" b="0" i="0" u="none" dirty="0">
                <a:solidFill>
                  <a:srgbClr val="475569"/>
                </a:solidFill>
                <a:latin typeface="Plus Jakarta Sans"/>
              </a:rPr>
              <a:t> web.</a:t>
            </a:r>
            <a:r>
              <a:rPr lang="en-US" sz="1125" b="0" i="0" u="none" dirty="0">
                <a:solidFill>
                  <a:srgbClr val="475569"/>
                </a:solidFill>
                <a:latin typeface="Plus Jakarta Sans"/>
              </a:rPr>
              <a:t>  </a:t>
            </a:r>
          </a:p>
          <a:p>
            <a:pPr algn="l">
              <a:lnSpc>
                <a:spcPts val="1687"/>
              </a:lnSpc>
            </a:pPr>
            <a:endParaRPr lang="en-US" sz="1125" dirty="0">
              <a:solidFill>
                <a:srgbClr val="475569"/>
              </a:solidFill>
              <a:latin typeface="Plus Jakarta Sans"/>
            </a:endParaRPr>
          </a:p>
          <a:p>
            <a:pPr>
              <a:lnSpc>
                <a:spcPts val="1687"/>
              </a:lnSpc>
            </a:pPr>
            <a:r>
              <a:rPr lang="en-US" sz="1125" dirty="0">
                <a:solidFill>
                  <a:srgbClr val="475569"/>
                </a:solidFill>
                <a:latin typeface="Plus Jakarta Sans"/>
              </a:rPr>
              <a:t>Demo Video : </a:t>
            </a:r>
            <a:r>
              <a:rPr lang="en-US" sz="1125" dirty="0">
                <a:solidFill>
                  <a:srgbClr val="475569"/>
                </a:solidFill>
                <a:latin typeface="Plus Jakarta Sans"/>
                <a:hlinkClick r:id="rId5"/>
              </a:rPr>
              <a:t>https://www.youtube.com/shorts/UfnUE4Geqq0</a:t>
            </a:r>
            <a:endParaRPr sz="1125" b="0" i="0" u="none" dirty="0">
              <a:solidFill>
                <a:srgbClr val="475569"/>
              </a:solidFill>
              <a:latin typeface="Plus Jakarta Sans"/>
            </a:endParaRPr>
          </a:p>
        </p:txBody>
      </p:sp>
      <p:sp>
        <p:nvSpPr>
          <p:cNvPr id="12" name="TextBox 11"/>
          <p:cNvSpPr txBox="1"/>
          <p:nvPr/>
        </p:nvSpPr>
        <p:spPr>
          <a:xfrm>
            <a:off x="6600825" y="3883223"/>
            <a:ext cx="5591175" cy="219075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l"/>
            <a:r>
              <a:rPr sz="1350" b="1" i="0" u="none">
                <a:solidFill>
                  <a:srgbClr val="0F172A"/>
                </a:solidFill>
                <a:latin typeface="Plus Jakarta Sans"/>
              </a:rPr>
              <a:t>Uji Coba Alarm Peringatan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00825" y="4178498"/>
            <a:ext cx="4724400" cy="4286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ts val="1687"/>
              </a:lnSpc>
            </a:pPr>
            <a:r>
              <a:rPr sz="1125" b="0" i="0" u="none">
                <a:solidFill>
                  <a:srgbClr val="475569"/>
                </a:solidFill>
                <a:latin typeface="Plus Jakarta Sans"/>
              </a:rPr>
              <a:t>Melihat bagaimana sistem memberikan notifikasi instan ketika suhu disimulasikan melewati batas aman.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91200" y="2459384"/>
            <a:ext cx="609600" cy="609600"/>
          </a:xfrm>
          <a:prstGeom prst="rect">
            <a:avLst/>
          </a:prstGeom>
        </p:spPr>
      </p:pic>
      <p:pic>
        <p:nvPicPr>
          <p:cNvPr id="3" name="Picture 2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9312" y="2630834"/>
            <a:ext cx="333375" cy="26670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2989361" y="3297584"/>
            <a:ext cx="6213276" cy="43428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420"/>
              </a:lnSpc>
            </a:pPr>
            <a:r>
              <a:rPr sz="2850" b="1" i="0" u="none">
                <a:solidFill>
                  <a:srgbClr val="0F172A"/>
                </a:solidFill>
                <a:latin typeface="Plus Jakarta Sans"/>
              </a:rPr>
              <a:t>Sesi Diskusi &amp; Tanya Jawab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2524125" y="3884265"/>
            <a:ext cx="7143750" cy="5143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ts val="2025"/>
              </a:lnSpc>
            </a:pPr>
            <a:r>
              <a:rPr sz="1350" b="0" i="0" u="none">
                <a:solidFill>
                  <a:srgbClr val="64748B"/>
                </a:solidFill>
                <a:latin typeface="Plus Jakarta Sans"/>
              </a:rPr>
              <a:t>Silakan ajukan pertanyaan seputar peluang penerapan IoT dalam strategi bisnis Anda.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ounded Rectangle 1"/>
          <p:cNvSpPr/>
          <p:nvPr/>
        </p:nvSpPr>
        <p:spPr>
          <a:xfrm>
            <a:off x="5867400" y="4128045"/>
            <a:ext cx="457200" cy="38100"/>
          </a:xfrm>
          <a:prstGeom prst="roundRect">
            <a:avLst>
              <a:gd name="adj" fmla="val 50000"/>
            </a:avLst>
          </a:prstGeom>
          <a:solidFill>
            <a:srgbClr val="38BDF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4427041" y="2691705"/>
            <a:ext cx="3337917" cy="502890"/>
          </a:xfrm>
          <a:prstGeom prst="rect">
            <a:avLst/>
          </a:prstGeom>
          <a:noFill/>
        </p:spPr>
        <p:txBody>
          <a:bodyPr wrap="none" lIns="0" tIns="0" rIns="0" bIns="0" anchor="t">
            <a:spAutoFit/>
          </a:bodyPr>
          <a:lstStyle/>
          <a:p>
            <a:pPr algn="ctr">
              <a:lnSpc>
                <a:spcPts val="3959"/>
              </a:lnSpc>
            </a:pPr>
            <a:r>
              <a:rPr sz="3300" b="1" i="0" u="none">
                <a:solidFill>
                  <a:srgbClr val="FFFFFF"/>
                </a:solidFill>
                <a:latin typeface="Plus Jakarta Sans"/>
              </a:rPr>
              <a:t>Terima Kasih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24125" y="3346995"/>
            <a:ext cx="7143750" cy="47625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0" i="0" u="none">
                <a:solidFill>
                  <a:srgbClr val="94A3B8"/>
                </a:solidFill>
                <a:latin typeface="Plus Jakarta Sans"/>
              </a:rPr>
              <a:t>Mari bangun masa depan bisnis yang cerdas, efisien, dan berbasis data nyata.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51</TotalTime>
  <Words>850</Words>
  <Application>Microsoft Office PowerPoint</Application>
  <PresentationFormat>Widescreen</PresentationFormat>
  <Paragraphs>119</Paragraphs>
  <Slides>19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3" baseType="lpstr">
      <vt:lpstr>Calibri</vt:lpstr>
      <vt:lpstr>Plus Jakarta Sans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PT Praisindo Teknologi</cp:lastModifiedBy>
  <cp:revision>18</cp:revision>
  <dcterms:created xsi:type="dcterms:W3CDTF">2013-01-27T09:14:16Z</dcterms:created>
  <dcterms:modified xsi:type="dcterms:W3CDTF">2026-10-20T06:26:25Z</dcterms:modified>
  <cp:category/>
</cp:coreProperties>
</file>