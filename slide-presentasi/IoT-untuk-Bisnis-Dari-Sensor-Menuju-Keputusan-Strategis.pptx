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19.xml" ContentType="application/vnd.openxmlformats-officedocument.presentationml.slide+xml"/>
  <ns0:Override PartName="/ppt/slides/slide2.xml" ContentType="application/vnd.openxmlformats-officedocument.presentationml.slide+xml"/>
  <ns0:Override PartName="/ppt/slides/slide20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  <ns0:sldId id="272" ns1:id="rId23"/>
    <ns0:sldId id="273" ns1:id="rId24"/>
    <ns0:sldId id="274" ns1:id="rId25"/>
    <ns0:sldId id="275" ns1:id="rId26"/>
  </ns0:sldIdLst>
  <ns0:sldSz cx="12192000" cy="6858000" type="screen4x3"/>
  <ns0:notesSz cx="6858000" cy="9144000"/>
  <ns0:embeddedFontLst>
    <ns0:embeddedFont>
      <ns0:font typeface="Plus Jakarta Sans"/>
      <ns0:bold ns1:id="rIdFont27"/>
      <ns0:regular ns1:id="rIdFont28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22" Type="http://schemas.openxmlformats.org/officeDocument/2006/relationships/slide" Target="slides/slide16.xml" /><ns0:Relationship Id="rId23" Type="http://schemas.openxmlformats.org/officeDocument/2006/relationships/slide" Target="slides/slide17.xml" /><ns0:Relationship Id="rId24" Type="http://schemas.openxmlformats.org/officeDocument/2006/relationships/slide" Target="slides/slide18.xml" /><ns0:Relationship Id="rId25" Type="http://schemas.openxmlformats.org/officeDocument/2006/relationships/slide" Target="slides/slide19.xml" /><ns0:Relationship Id="rId26" Type="http://schemas.openxmlformats.org/officeDocument/2006/relationships/slide" Target="slides/slide20.xml" /><ns0:Relationship Id="rIdFont27" Type="http://schemas.openxmlformats.org/officeDocument/2006/relationships/font" Target="fonts/055c1ce7-5acb-4720-b6e9-53303f739376.fntdata" /><ns0:Relationship Id="rIdFont28" Type="http://schemas.openxmlformats.org/officeDocument/2006/relationships/font" Target="fonts/ed64642d-1bcb-4f9e-965b-d0de063c6cdf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713833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106066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Plus Jakarta Sans"/>
              </a:rPr>
              <a:t>KULIAH TAMU FAKULTAS BISNIS &amp; MANAJEMEN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458491"/>
            <a:ext cx="9101137" cy="1188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b="1" sz="3900" i="0" u="none">
                <a:solidFill>
                  <a:srgbClr val="FFFFFF"/>
                </a:solidFill>
                <a:latin typeface="Plus Jakarta Sans"/>
              </a:rPr>
              <a:t>Transformasi Bisnis Melalui IoT &amp; Real-Time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837533"/>
            <a:ext cx="6762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Menerjemahkan teknologi sensor fisik dan data otomatis menjadi keunggulan kompetitif dan nilai komersial.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02173"/>
            <a:ext cx="3505200" cy="1638300"/>
          </a:xfrm>
          <a:prstGeom prst="roundRect">
            <a:avLst>
              <a:gd name="adj" fmla="val 930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102173"/>
            <a:ext cx="3505200" cy="1638300"/>
          </a:xfrm>
          <a:prstGeom prst="roundRect">
            <a:avLst>
              <a:gd name="adj" fmla="val 930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102173"/>
            <a:ext cx="3505200" cy="1638300"/>
          </a:xfrm>
          <a:prstGeom prst="roundRect">
            <a:avLst>
              <a:gd name="adj" fmla="val 930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Agenda Sesi Kuliah (40 Menit)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97527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Struktur pembahasan dari strategi bisnis hingga implementasi teknis dasar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416498"/>
            <a:ext cx="3595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BAGIAN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664148"/>
            <a:ext cx="377547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Konsep &amp; Bisnis IoT (Slide 1–10)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997523"/>
            <a:ext cx="29718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Manfaat komersial, lanskap industri, ekonomi data, dan studi kasus manajerial.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7725" y="3416498"/>
            <a:ext cx="3595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BAGIAN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7725" y="3664148"/>
            <a:ext cx="377547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Teknis &amp; Komponen (Slide 11–17)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7725" y="3997523"/>
            <a:ext cx="29718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Arsitektur perangkat, sensor suhu, jaringan cloud, dan cara kerja sistem.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1525" y="3416498"/>
            <a:ext cx="3595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BAGIAN 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1525" y="3664148"/>
            <a:ext cx="377547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Demo &amp; Diskusi (Slide 18–20)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1525" y="3997523"/>
            <a:ext cx="29718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Simulasi live monitoring suhu, tanya jawab, dan penutup.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68773"/>
            <a:ext cx="5334000" cy="1200150"/>
          </a:xfrm>
          <a:prstGeom prst="roundRect">
            <a:avLst>
              <a:gd name="adj" fmla="val 1269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959423"/>
            <a:ext cx="5334000" cy="1200150"/>
          </a:xfrm>
          <a:prstGeom prst="roundRect">
            <a:avLst>
              <a:gd name="adj" fmla="val 1269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1863923"/>
            <a:ext cx="5334000" cy="400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863923"/>
            <a:ext cx="5334000" cy="400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5334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Perubahan Lanskap Bisnis Global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97527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Mengapa perusahaan konvensional harus beralih ke digitalisasi fisik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2806898"/>
            <a:ext cx="637579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Kompetisi Berbasis Kecepatan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102173"/>
            <a:ext cx="49530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Informasi operasional yang terlambat dilaporkan menyebabkan keputusan bisnis yang salah.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4197548"/>
            <a:ext cx="637579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Ekspektasi Konsumen Tinggi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4492823"/>
            <a:ext cx="49530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Kualitas produk yang terjaga ketat menuntut kontrol mutu otomatis sepanjang rantai pasok.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11673"/>
            <a:ext cx="5686425" cy="1905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825" y="1959173"/>
            <a:ext cx="4981575" cy="3810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825" y="1959173"/>
            <a:ext cx="4981575" cy="381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5334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Definisi Sederhana IoT untuk Bisnis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97527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Menghubungkan benda fisik ke internet agar dapat "berbicara" kepada manajemen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9328" y="3264098"/>
            <a:ext cx="6226968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b="1" sz="4800" i="0" u="none">
                <a:solidFill>
                  <a:srgbClr val="0284C7"/>
                </a:solidFill>
                <a:latin typeface="Plus Jakarta Sans"/>
              </a:rPr>
              <a:t>75B+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9328" y="3987998"/>
            <a:ext cx="622696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Perangkat Aktif di Seluruh Dunia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9328" y="4283273"/>
            <a:ext cx="622696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Plus Jakarta Sans"/>
              </a:rPr>
              <a:t>Merekam suhu, getaran, lokasi, dan status secara mandiri.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68823"/>
            <a:ext cx="3505200" cy="1905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68823"/>
            <a:ext cx="3505200" cy="1905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68823"/>
            <a:ext cx="3505200" cy="1905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283148"/>
            <a:ext cx="38100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3283148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3283148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" y="3387923"/>
            <a:ext cx="17145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8687" y="3387923"/>
            <a:ext cx="219075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6300" y="3387923"/>
            <a:ext cx="171450" cy="171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5334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Tiga Pilar Utama Ekosistem IoT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97527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Kerangka dasar yang wajib dipahami oleh pengambil keputusan bisnis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816548"/>
            <a:ext cx="377547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1. Pengumpulan (Sensor)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4130873"/>
            <a:ext cx="29718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Menangkap kondisi fisik secara otomatis tanpa campur tangan manusia.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7725" y="3816548"/>
            <a:ext cx="377547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2. Transmisi (Jaringan)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7725" y="4130873"/>
            <a:ext cx="29718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Mengirimkan data dari lokasi lapangan menuju pusat penyimpanan cloud.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1525" y="3816548"/>
            <a:ext cx="377547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3. Aksi (Dashboard)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1525" y="4130873"/>
            <a:ext cx="29718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Menampilkan analisis visual dan memicu alarm peringatan dini.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31702"/>
            <a:ext cx="5334000" cy="853380"/>
          </a:xfrm>
          <a:prstGeom prst="roundRect">
            <a:avLst>
              <a:gd name="adj" fmla="val 1339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437483"/>
            <a:ext cx="5334000" cy="853380"/>
          </a:xfrm>
          <a:prstGeom prst="roundRect">
            <a:avLst>
              <a:gd name="adj" fmla="val 1339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443263"/>
            <a:ext cx="5334000" cy="853380"/>
          </a:xfrm>
          <a:prstGeom prst="roundRect">
            <a:avLst>
              <a:gd name="adj" fmla="val 1339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1863923"/>
            <a:ext cx="5334000" cy="400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863923"/>
            <a:ext cx="5334000" cy="4000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5334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Manfaat Bisnis: Efisiensi &amp; Cost Reduction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97527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Menekan pengeluaran operasional melalui otomatisasi pencatatan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2631727"/>
            <a:ext cx="6475809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Eliminasi Catatan Manual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2898427"/>
            <a:ext cx="6167437" cy="1866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Menghapus lembar log kertas yang lambat dan rentan manipulasi.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3637508"/>
            <a:ext cx="6475809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Penghematan Energi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3904208"/>
            <a:ext cx="6167437" cy="1866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Mengontrol penggunaan daya mesin dan pendingin ruangan secara presisi.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4643288"/>
            <a:ext cx="6475809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Optimalisasi Tenaga Kerja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4909988"/>
            <a:ext cx="6167437" cy="1866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Staf dialihkan ke tugas strategis bernilai tambah tinggi bagi perusahaan.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48400" y="2492573"/>
            <a:ext cx="5334000" cy="1276350"/>
          </a:xfrm>
          <a:prstGeom prst="roundRect">
            <a:avLst>
              <a:gd name="adj" fmla="val 1194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959423"/>
            <a:ext cx="5334000" cy="1276350"/>
          </a:xfrm>
          <a:prstGeom prst="roundRect">
            <a:avLst>
              <a:gd name="adj" fmla="val 1194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63923"/>
            <a:ext cx="5334000" cy="400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863923"/>
            <a:ext cx="5334000" cy="400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5334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Manfaat Bisnis: Mitigasi Risiko &amp; Mutu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97527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Melindungi aset korporat dari kerugian akibat kelalaian operasional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4625" y="2768798"/>
            <a:ext cx="56673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Peringatan Dini Kerusakan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4625" y="3064073"/>
            <a:ext cx="48768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Notifikasi instan saat suhu mesin atau ruang pendingin melewati batas aman, mencegah produk rusak total.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4625" y="4235648"/>
            <a:ext cx="56673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Kepatuhan Standar Industri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4625" y="4530923"/>
            <a:ext cx="48768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Menyediakan riwayat audit digital yang transparan untuk memenuhi regulasi keselamatan.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04542"/>
            <a:ext cx="3505200" cy="1833562"/>
          </a:xfrm>
          <a:prstGeom prst="roundRect">
            <a:avLst>
              <a:gd name="adj" fmla="val 83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004542"/>
            <a:ext cx="3505200" cy="1833562"/>
          </a:xfrm>
          <a:prstGeom prst="roundRect">
            <a:avLst>
              <a:gd name="adj" fmla="val 83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004542"/>
            <a:ext cx="3505200" cy="1833562"/>
          </a:xfrm>
          <a:prstGeom prst="roundRect">
            <a:avLst>
              <a:gd name="adj" fmla="val 83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Perkembangan &amp; Tren Adopsi IoT Saat 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97527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Bagaimana teknologi ini bertransformasi dari proyek uji coba menjadi standar industri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318867"/>
            <a:ext cx="3595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TREN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566517"/>
            <a:ext cx="377547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Demokratisasi Hardware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880842"/>
            <a:ext cx="29718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Komponen sensor dan mikrokontroler kini sangat terjangkau bagi bisnis skala menengah.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7725" y="3318867"/>
            <a:ext cx="3595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TREN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7725" y="3566517"/>
            <a:ext cx="377547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Cloud Berbasis Layanan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7725" y="3880842"/>
            <a:ext cx="29718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Perusahaan tidak perlu membangun server sendiri; cukup menyewa infrastruktur awan.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1525" y="3318867"/>
            <a:ext cx="3595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TREN 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1525" y="3566517"/>
            <a:ext cx="377547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Multi-Industry Standard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1525" y="3880842"/>
            <a:ext cx="29718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Adopsi meluas dari logistik rantai dingin hingga pertanian modern dan perkantoran.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28367"/>
            <a:ext cx="3505200" cy="1585912"/>
          </a:xfrm>
          <a:prstGeom prst="roundRect">
            <a:avLst>
              <a:gd name="adj" fmla="val 960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128367"/>
            <a:ext cx="3505200" cy="1585912"/>
          </a:xfrm>
          <a:prstGeom prst="roundRect">
            <a:avLst>
              <a:gd name="adj" fmla="val 960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235523"/>
            <a:ext cx="3505200" cy="137160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Implementasi Sektoral di Dunia Usaha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97527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Penerapan nyata sensor pemantau di berbagai pilar industri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442692"/>
            <a:ext cx="377547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Cold Chain &amp; Farmasi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757017"/>
            <a:ext cx="29718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Menjaga kestabilan suhu penyimpanan vaksin, obat, dan makanan segar selama distribusi.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57725" y="3442692"/>
            <a:ext cx="377547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Manufaktur &amp; Pabrik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7725" y="3757017"/>
            <a:ext cx="29718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Pemantauan suhu mesin berat untuk menghindari penghentian produksi mendadak.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1525" y="3549848"/>
            <a:ext cx="377547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Smart Retail &amp; Gudang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1525" y="3864173"/>
            <a:ext cx="29718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Pengelolaan lingkungan gudang logistik agar inventaris tetap dalam kondisi prima.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48905"/>
            <a:ext cx="5343525" cy="1544835"/>
          </a:xfrm>
          <a:prstGeom prst="roundRect">
            <a:avLst>
              <a:gd name="adj" fmla="val 986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57925" y="2967037"/>
            <a:ext cx="5324475" cy="1908571"/>
          </a:xfrm>
          <a:prstGeom prst="roundRect">
            <a:avLst>
              <a:gd name="adj" fmla="val 7985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5334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Rangkuman Bagian Bisnis &amp; Strategi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7527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Poin penting sebelum memasuki pembahasan teknis pelaksanaan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501330"/>
            <a:ext cx="608826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Transformasi Nilai Korporat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3853755"/>
            <a:ext cx="4733925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IoT mengubah cara manajer memandang data fisik — dari reaktif menjadi proaktif, serta meningkatkan efisiensi operasional.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825" y="3309937"/>
            <a:ext cx="55911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TRANSISI SESI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825" y="3595687"/>
            <a:ext cx="5591175" cy="2970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800" i="0" u="none">
                <a:solidFill>
                  <a:srgbClr val="FFFFFF"/>
                </a:solidFill>
                <a:latin typeface="Plus Jakarta Sans"/>
              </a:rPr>
              <a:t>Menuju Dapur Teknologi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0825" y="4045148"/>
            <a:ext cx="4733925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Bagaimana konsep bisnis ini diwujudkan secara nyata melalui perangkat keras dan sistem perangkat lunak?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11698"/>
            <a:ext cx="3505200" cy="1619250"/>
          </a:xfrm>
          <a:prstGeom prst="roundRect">
            <a:avLst>
              <a:gd name="adj" fmla="val 94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111698"/>
            <a:ext cx="3505200" cy="1619250"/>
          </a:xfrm>
          <a:prstGeom prst="roundRect">
            <a:avLst>
              <a:gd name="adj" fmla="val 94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004542"/>
            <a:ext cx="3505200" cy="1833562"/>
          </a:xfrm>
          <a:prstGeom prst="roundRect">
            <a:avLst>
              <a:gd name="adj" fmla="val 83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Arsitektur Umum Sistem IoT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97527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Alur perjalanan data dari dunia fisik hingga tampil di layar monitor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426023"/>
            <a:ext cx="3595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LANGKAH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673673"/>
            <a:ext cx="377547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Sensor Membaca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987998"/>
            <a:ext cx="29718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Komponen fisik mendeteksi suhu atau kelembapan ruangan secara berkala.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7725" y="3426023"/>
            <a:ext cx="3595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LANGKAH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7725" y="3673673"/>
            <a:ext cx="377547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Mikrokontroler Mengirim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7725" y="3987998"/>
            <a:ext cx="29718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Perangkat memaketkan angka dan mengirimkannya via jaringan Wi-Fi lokal.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1525" y="3318867"/>
            <a:ext cx="3595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LANGKAH 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1525" y="3566517"/>
            <a:ext cx="377547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Cloud Menyimpan &amp; Menampilkan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1525" y="3880842"/>
            <a:ext cx="29718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Server awan memproses data dan menampilkannya dalam bentuk grafik visual.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83085"/>
            <a:ext cx="5334000" cy="985837"/>
          </a:xfrm>
          <a:prstGeom prst="roundRect">
            <a:avLst>
              <a:gd name="adj" fmla="val 1545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959423"/>
            <a:ext cx="5334000" cy="985837"/>
          </a:xfrm>
          <a:prstGeom prst="roundRect">
            <a:avLst>
              <a:gd name="adj" fmla="val 1545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1863923"/>
            <a:ext cx="5334000" cy="400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863923"/>
            <a:ext cx="5334000" cy="400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5334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Komponen Fisik: Otak &amp; Indera Perangkat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97527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Mengenal perangkat keras dasar yang terpasang di lapangan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021210"/>
            <a:ext cx="637579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ESP32 (Mikrokontroler)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316485"/>
            <a:ext cx="6072187" cy="214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Komputer mini berukuran chip dengan Wi-Fi bawaan.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4197548"/>
            <a:ext cx="637579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Sensor Temperatur (DHT / DS18B20)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4492823"/>
            <a:ext cx="6072187" cy="214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Komponen elektronik presisi yang mengukur suhu secara kontinu.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35523"/>
            <a:ext cx="3505200" cy="137160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128367"/>
            <a:ext cx="3505200" cy="1585912"/>
          </a:xfrm>
          <a:prstGeom prst="roundRect">
            <a:avLst>
              <a:gd name="adj" fmla="val 960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128367"/>
            <a:ext cx="3505200" cy="1585912"/>
          </a:xfrm>
          <a:prstGeom prst="roundRect">
            <a:avLst>
              <a:gd name="adj" fmla="val 960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Jaringan &amp; Protokol Komunikasi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97527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Bagaimana perangkat mengirimkan data secara aman dan efisien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549848"/>
            <a:ext cx="377547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Konektivitas Wi-Fi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864173"/>
            <a:ext cx="29718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Jalur internet standar yang menjembatani perangkat lapangan dengan server pusat.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57725" y="3442692"/>
            <a:ext cx="377547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Protokol MQTT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7725" y="3757017"/>
            <a:ext cx="29718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Bahasa komunikasi ringan yang dirancang khusus untuk perangkat IoT agar hemat daya.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1525" y="3442692"/>
            <a:ext cx="377547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Keamanan Transmisi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1525" y="3757017"/>
            <a:ext cx="29718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Enkripsi data untuk mencegah penyadapan atau manipulasi informasi di tengah jalan.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48400" y="2425898"/>
            <a:ext cx="5334000" cy="1343025"/>
          </a:xfrm>
          <a:prstGeom prst="roundRect">
            <a:avLst>
              <a:gd name="adj" fmla="val 113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959423"/>
            <a:ext cx="5334000" cy="1343025"/>
          </a:xfrm>
          <a:prstGeom prst="roundRect">
            <a:avLst>
              <a:gd name="adj" fmla="val 113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63923"/>
            <a:ext cx="5334000" cy="400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863923"/>
            <a:ext cx="5334000" cy="400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5334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Perangkat Lunak: Cloud &amp; Database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97527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Tempat penyimpanan riwayat audit dan pengolahan angka otomatis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4625" y="2702123"/>
            <a:ext cx="56673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Cloud Server &amp; Broker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4625" y="3035498"/>
            <a:ext cx="487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Pusat pengendali virtual yang menerima ribuan kiriman data dari berbagai sensor.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4625" y="4235648"/>
            <a:ext cx="56673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Penyimpanan Riwayat (Database)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4625" y="4569023"/>
            <a:ext cx="487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Merekam setiap detik perubahan suhu untuk keperluan analisis tren jangka panjang.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28367"/>
            <a:ext cx="3505200" cy="1585912"/>
          </a:xfrm>
          <a:prstGeom prst="roundRect">
            <a:avLst>
              <a:gd name="adj" fmla="val 960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128367"/>
            <a:ext cx="3505200" cy="1585912"/>
          </a:xfrm>
          <a:prstGeom prst="roundRect">
            <a:avLst>
              <a:gd name="adj" fmla="val 960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235523"/>
            <a:ext cx="3505200" cy="137160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Visualisasi: Dashboard &amp; Web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97527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Jendela interaktif bagi manajer untuk memantau kondisi operasional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442692"/>
            <a:ext cx="377547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Grafik Waktu Nyata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757017"/>
            <a:ext cx="29718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Menampilkan pergerakan naik turunnya suhu dalam bentuk grafik garis yang mudah dibaca.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57725" y="3442692"/>
            <a:ext cx="377547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Indikator Status Warna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7725" y="3757017"/>
            <a:ext cx="29718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Zona aman (hijau) dan zona bahaya (merah) untuk identifikasi masalah secara instan.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1525" y="3549848"/>
            <a:ext cx="377547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Akses Multi-Platform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1525" y="3864173"/>
            <a:ext cx="29718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Dapat diakses melalui komputer kantor maupun aplikasi mobile di smartphone.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04542"/>
            <a:ext cx="3505200" cy="1833562"/>
          </a:xfrm>
          <a:prstGeom prst="roundRect">
            <a:avLst>
              <a:gd name="adj" fmla="val 83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111698"/>
            <a:ext cx="3505200" cy="1619250"/>
          </a:xfrm>
          <a:prstGeom prst="roundRect">
            <a:avLst>
              <a:gd name="adj" fmla="val 94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111698"/>
            <a:ext cx="3505200" cy="1619250"/>
          </a:xfrm>
          <a:prstGeom prst="roundRect">
            <a:avLst>
              <a:gd name="adj" fmla="val 94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Tahapan Implementasi Proyek di Perusahaan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97527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Langkah taktis bagi manajemen dalam mengeksekusi inisiatif IoT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318867"/>
            <a:ext cx="3595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TAHAP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566517"/>
            <a:ext cx="377547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Proof of Concept (PoC)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880842"/>
            <a:ext cx="29718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Uji coba skala kecil pada satu unit mesin atau satu ruang pendingin untuk menguji kelayakan.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7725" y="3426023"/>
            <a:ext cx="3595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TAHAP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7725" y="3673673"/>
            <a:ext cx="377547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Evaluasi &amp; Validasi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7725" y="3987998"/>
            <a:ext cx="29718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Menilai efisiensi, akurasi data, dan umpan balik dari tim operasional di lapangan.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1525" y="3426023"/>
            <a:ext cx="3595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TAHAP 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1525" y="3673673"/>
            <a:ext cx="377547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Rollout Skala Penuh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1525" y="3987998"/>
            <a:ext cx="29718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Pemasangan massal ke seluruh cabang, pabrik, atau armada logistik perusahaan.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69865"/>
            <a:ext cx="5334000" cy="1788616"/>
          </a:xfrm>
          <a:prstGeom prst="roundRect">
            <a:avLst>
              <a:gd name="adj" fmla="val 852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969865"/>
            <a:ext cx="5334000" cy="1788616"/>
          </a:xfrm>
          <a:prstGeom prst="roundRect">
            <a:avLst>
              <a:gd name="adj" fmla="val 852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5334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Tantangan &amp; Solusi Implementasi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7527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Mengantisipasi hambatan umum dalam proyek digitalisasi korporat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322290"/>
            <a:ext cx="607575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Resistensi Perubahan Karyawan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3674715"/>
            <a:ext cx="47244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Solusi: Pelatihan intensif dan penyuluhan bahwa teknologi dirancang untuk meringankan beban kerja, bukan menggantikan posisi staf.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825" y="3322290"/>
            <a:ext cx="55911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Keterbatasan Infrastruktur Jaringan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825" y="3674715"/>
            <a:ext cx="47244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Solusi: Penggunaan penyangga data lokal (buffer) pada perangkat agar tidak ada informasi yang hilang saat sinyal terputus.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21198"/>
            <a:ext cx="5334000" cy="2038350"/>
          </a:xfrm>
          <a:prstGeom prst="roundRect">
            <a:avLst>
              <a:gd name="adj" fmla="val 747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921198"/>
            <a:ext cx="5334000" cy="2038350"/>
          </a:xfrm>
          <a:prstGeom prst="roundRect">
            <a:avLst>
              <a:gd name="adj" fmla="val 747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3273623"/>
            <a:ext cx="457200" cy="45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825" y="3273623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562" y="3406973"/>
            <a:ext cx="238125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700" y="3406973"/>
            <a:ext cx="171450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Sesi Simulasi &amp; Demo Sistem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97527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Melihat langsung cara kerja repositori monitor temperatur dalam aksi nyata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3883223"/>
            <a:ext cx="607575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Simulasi Perangkat &amp;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4178498"/>
            <a:ext cx="47244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Demonstrasi pembacaan data sensor ESP32 yang disiarkan langsung ke tampilan antarmuka web.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0825" y="3883223"/>
            <a:ext cx="55911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Uji Coba Alarm Peringatan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0825" y="4178498"/>
            <a:ext cx="47244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Melihat bagaimana sistem memberikan notifikasi instan ketika suhu disimulasikan melewati batas aman.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459384"/>
            <a:ext cx="609600" cy="6096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312" y="2630834"/>
            <a:ext cx="333375" cy="266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89361" y="3297584"/>
            <a:ext cx="6213276" cy="434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420"/>
              </a:lnSpc>
            </a:pPr>
            <a:r>
              <a:rPr b="1" sz="2850" i="0" u="none">
                <a:solidFill>
                  <a:srgbClr val="0F172A"/>
                </a:solidFill>
                <a:latin typeface="Plus Jakarta Sans"/>
              </a:rPr>
              <a:t>Sesi Diskusi &amp; Tanya Jawab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4125" y="3884265"/>
            <a:ext cx="71437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64748B"/>
                </a:solidFill>
                <a:latin typeface="Plus Jakarta Sans"/>
              </a:rPr>
              <a:t>Silakan ajukan pertanyaan seputar peluang penerapan IoT dalam strategi bisnis Anda.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867400" y="4128045"/>
            <a:ext cx="4572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27041" y="2691705"/>
            <a:ext cx="3337917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959"/>
              </a:lnSpc>
            </a:pPr>
            <a:r>
              <a:rPr b="1" sz="3300" i="0" u="none">
                <a:solidFill>
                  <a:srgbClr val="FFFFFF"/>
                </a:solidFill>
                <a:latin typeface="Plus Jakarta Sans"/>
              </a:rPr>
              <a:t>Terima Kasih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4125" y="3346995"/>
            <a:ext cx="71437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Plus Jakarta Sans"/>
              </a:rPr>
              <a:t>Mari bangun masa depan bisnis yang cerdas, efisien, dan berbasis data nyata.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